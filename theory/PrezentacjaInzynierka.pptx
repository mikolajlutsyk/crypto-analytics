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4" r:id="rId3"/>
    <p:sldId id="266" r:id="rId4"/>
    <p:sldId id="265" r:id="rId5"/>
    <p:sldId id="267" r:id="rId6"/>
    <p:sldId id="268" r:id="rId7"/>
    <p:sldId id="269" r:id="rId8"/>
    <p:sldId id="270" r:id="rId9"/>
    <p:sldId id="271" r:id="rId10"/>
    <p:sldId id="272" r:id="rId11"/>
  </p:sldIdLst>
  <p:sldSz cx="9144000" cy="5143500" type="screen16x9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29" autoAdjust="0"/>
  </p:normalViewPr>
  <p:slideViewPr>
    <p:cSldViewPr>
      <p:cViewPr varScale="1">
        <p:scale>
          <a:sx n="76" d="100"/>
          <a:sy n="76" d="100"/>
        </p:scale>
        <p:origin x="1024" y="4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 dirty="0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>
          <a:xfrm>
            <a:off x="457200" y="4677984"/>
            <a:ext cx="2133600" cy="273844"/>
          </a:xfrm>
        </p:spPr>
        <p:txBody>
          <a:bodyPr/>
          <a:lstStyle/>
          <a:p>
            <a:fld id="{DADD790C-A9A5-4496-B3B0-6B2C048BF4DC}" type="datetimeFigureOut">
              <a:rPr lang="pl-PL" smtClean="0"/>
              <a:t>16.01.2026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>
          <a:xfrm>
            <a:off x="3124200" y="4677984"/>
            <a:ext cx="2895600" cy="273844"/>
          </a:xfrm>
        </p:spPr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>
          <a:xfrm>
            <a:off x="6553200" y="4677984"/>
            <a:ext cx="2133600" cy="273844"/>
          </a:xfrm>
        </p:spPr>
        <p:txBody>
          <a:bodyPr/>
          <a:lstStyle/>
          <a:p>
            <a:fld id="{3C35C877-48D7-422F-A9F4-5D389ED8AF8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04309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251520" y="256338"/>
            <a:ext cx="7056784" cy="857250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pl-PL" dirty="0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251520" y="1275607"/>
            <a:ext cx="8568952" cy="3319016"/>
          </a:xfrm>
        </p:spPr>
        <p:txBody>
          <a:bodyPr/>
          <a:lstStyle/>
          <a:p>
            <a:pPr lvl="0"/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7" name="Symbol zastępczy daty 3"/>
          <p:cNvSpPr>
            <a:spLocks noGrp="1"/>
          </p:cNvSpPr>
          <p:nvPr>
            <p:ph type="dt" sz="half" idx="10"/>
          </p:nvPr>
        </p:nvSpPr>
        <p:spPr>
          <a:xfrm>
            <a:off x="457200" y="4620165"/>
            <a:ext cx="2133600" cy="273844"/>
          </a:xfrm>
        </p:spPr>
        <p:txBody>
          <a:bodyPr/>
          <a:lstStyle/>
          <a:p>
            <a:fld id="{DADD790C-A9A5-4496-B3B0-6B2C048BF4DC}" type="datetimeFigureOut">
              <a:rPr lang="pl-PL" smtClean="0"/>
              <a:t>16.01.2026</a:t>
            </a:fld>
            <a:endParaRPr lang="pl-PL"/>
          </a:p>
        </p:txBody>
      </p:sp>
      <p:sp>
        <p:nvSpPr>
          <p:cNvPr id="8" name="Symbol zastępczy stopki 4"/>
          <p:cNvSpPr>
            <a:spLocks noGrp="1"/>
          </p:cNvSpPr>
          <p:nvPr>
            <p:ph type="ftr" sz="quarter" idx="11"/>
          </p:nvPr>
        </p:nvSpPr>
        <p:spPr>
          <a:xfrm>
            <a:off x="3124200" y="4620165"/>
            <a:ext cx="2895600" cy="273844"/>
          </a:xfrm>
        </p:spPr>
        <p:txBody>
          <a:bodyPr/>
          <a:lstStyle/>
          <a:p>
            <a:endParaRPr lang="pl-PL"/>
          </a:p>
        </p:txBody>
      </p:sp>
      <p:sp>
        <p:nvSpPr>
          <p:cNvPr id="9" name="Symbol zastępczy numeru slajdu 5"/>
          <p:cNvSpPr>
            <a:spLocks noGrp="1"/>
          </p:cNvSpPr>
          <p:nvPr>
            <p:ph type="sldNum" sz="quarter" idx="12"/>
          </p:nvPr>
        </p:nvSpPr>
        <p:spPr>
          <a:xfrm>
            <a:off x="6553200" y="4620165"/>
            <a:ext cx="2133600" cy="273844"/>
          </a:xfrm>
        </p:spPr>
        <p:txBody>
          <a:bodyPr/>
          <a:lstStyle/>
          <a:p>
            <a:fld id="{3C35C877-48D7-422F-A9F4-5D389ED8AF8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71779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273832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 dirty="0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1613186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>
          <a:xfrm>
            <a:off x="457200" y="4620165"/>
            <a:ext cx="2133600" cy="273844"/>
          </a:xfrm>
        </p:spPr>
        <p:txBody>
          <a:bodyPr/>
          <a:lstStyle/>
          <a:p>
            <a:fld id="{DADD790C-A9A5-4496-B3B0-6B2C048BF4DC}" type="datetimeFigureOut">
              <a:rPr lang="pl-PL" smtClean="0"/>
              <a:t>16.01.2026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>
          <a:xfrm>
            <a:off x="3124200" y="4620165"/>
            <a:ext cx="2895600" cy="273844"/>
          </a:xfrm>
        </p:spPr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>
          <a:xfrm>
            <a:off x="6553200" y="4620165"/>
            <a:ext cx="2133600" cy="273844"/>
          </a:xfrm>
        </p:spPr>
        <p:txBody>
          <a:bodyPr/>
          <a:lstStyle/>
          <a:p>
            <a:fld id="{3C35C877-48D7-422F-A9F4-5D389ED8AF8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2701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8" name="Tytuł 1"/>
          <p:cNvSpPr>
            <a:spLocks noGrp="1"/>
          </p:cNvSpPr>
          <p:nvPr>
            <p:ph type="title"/>
          </p:nvPr>
        </p:nvSpPr>
        <p:spPr>
          <a:xfrm>
            <a:off x="251520" y="256338"/>
            <a:ext cx="7128792" cy="857250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pl-PL" dirty="0"/>
              <a:t>Kliknij, aby edytować styl</a:t>
            </a:r>
          </a:p>
        </p:txBody>
      </p:sp>
      <p:sp>
        <p:nvSpPr>
          <p:cNvPr id="9" name="Symbol zastępczy daty 3"/>
          <p:cNvSpPr>
            <a:spLocks noGrp="1"/>
          </p:cNvSpPr>
          <p:nvPr>
            <p:ph type="dt" sz="half" idx="10"/>
          </p:nvPr>
        </p:nvSpPr>
        <p:spPr>
          <a:xfrm>
            <a:off x="457200" y="4620165"/>
            <a:ext cx="2133600" cy="273844"/>
          </a:xfrm>
        </p:spPr>
        <p:txBody>
          <a:bodyPr/>
          <a:lstStyle/>
          <a:p>
            <a:fld id="{DADD790C-A9A5-4496-B3B0-6B2C048BF4DC}" type="datetimeFigureOut">
              <a:rPr lang="pl-PL" smtClean="0"/>
              <a:t>16.01.2026</a:t>
            </a:fld>
            <a:endParaRPr lang="pl-PL"/>
          </a:p>
        </p:txBody>
      </p:sp>
      <p:sp>
        <p:nvSpPr>
          <p:cNvPr id="10" name="Symbol zastępczy stopki 4"/>
          <p:cNvSpPr>
            <a:spLocks noGrp="1"/>
          </p:cNvSpPr>
          <p:nvPr>
            <p:ph type="ftr" sz="quarter" idx="11"/>
          </p:nvPr>
        </p:nvSpPr>
        <p:spPr>
          <a:xfrm>
            <a:off x="3124200" y="4620165"/>
            <a:ext cx="2895600" cy="273844"/>
          </a:xfrm>
        </p:spPr>
        <p:txBody>
          <a:bodyPr/>
          <a:lstStyle/>
          <a:p>
            <a:endParaRPr lang="pl-PL"/>
          </a:p>
        </p:txBody>
      </p:sp>
      <p:sp>
        <p:nvSpPr>
          <p:cNvPr id="11" name="Symbol zastępczy numeru slajdu 5"/>
          <p:cNvSpPr>
            <a:spLocks noGrp="1"/>
          </p:cNvSpPr>
          <p:nvPr>
            <p:ph type="sldNum" sz="quarter" idx="12"/>
          </p:nvPr>
        </p:nvSpPr>
        <p:spPr>
          <a:xfrm>
            <a:off x="6553200" y="4620165"/>
            <a:ext cx="2133600" cy="273844"/>
          </a:xfrm>
        </p:spPr>
        <p:txBody>
          <a:bodyPr/>
          <a:lstStyle/>
          <a:p>
            <a:fld id="{3C35C877-48D7-422F-A9F4-5D389ED8AF8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30681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227832"/>
            <a:ext cx="4040188" cy="479822"/>
          </a:xfrm>
        </p:spPr>
        <p:txBody>
          <a:bodyPr anchor="b">
            <a:no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1707654"/>
            <a:ext cx="4040188" cy="2886968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6" y="1227832"/>
            <a:ext cx="4041775" cy="479822"/>
          </a:xfrm>
        </p:spPr>
        <p:txBody>
          <a:bodyPr anchor="b">
            <a:no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6" y="1707654"/>
            <a:ext cx="4041775" cy="2886968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10" name="Symbol zastępczy daty 3"/>
          <p:cNvSpPr>
            <a:spLocks noGrp="1"/>
          </p:cNvSpPr>
          <p:nvPr>
            <p:ph type="dt" sz="half" idx="10"/>
          </p:nvPr>
        </p:nvSpPr>
        <p:spPr>
          <a:xfrm>
            <a:off x="457200" y="4620165"/>
            <a:ext cx="2133600" cy="273844"/>
          </a:xfrm>
        </p:spPr>
        <p:txBody>
          <a:bodyPr/>
          <a:lstStyle/>
          <a:p>
            <a:fld id="{DADD790C-A9A5-4496-B3B0-6B2C048BF4DC}" type="datetimeFigureOut">
              <a:rPr lang="pl-PL" smtClean="0"/>
              <a:t>16.01.2026</a:t>
            </a:fld>
            <a:endParaRPr lang="pl-PL"/>
          </a:p>
        </p:txBody>
      </p:sp>
      <p:sp>
        <p:nvSpPr>
          <p:cNvPr id="11" name="Symbol zastępczy stopki 4"/>
          <p:cNvSpPr>
            <a:spLocks noGrp="1"/>
          </p:cNvSpPr>
          <p:nvPr>
            <p:ph type="ftr" sz="quarter" idx="11"/>
          </p:nvPr>
        </p:nvSpPr>
        <p:spPr>
          <a:xfrm>
            <a:off x="3124200" y="4620165"/>
            <a:ext cx="2895600" cy="273844"/>
          </a:xfrm>
        </p:spPr>
        <p:txBody>
          <a:bodyPr/>
          <a:lstStyle/>
          <a:p>
            <a:endParaRPr lang="pl-PL"/>
          </a:p>
        </p:txBody>
      </p:sp>
      <p:sp>
        <p:nvSpPr>
          <p:cNvPr id="12" name="Symbol zastępczy numeru slajdu 5"/>
          <p:cNvSpPr>
            <a:spLocks noGrp="1"/>
          </p:cNvSpPr>
          <p:nvPr>
            <p:ph type="sldNum" sz="quarter" idx="12"/>
          </p:nvPr>
        </p:nvSpPr>
        <p:spPr>
          <a:xfrm>
            <a:off x="6553200" y="4620165"/>
            <a:ext cx="2133600" cy="273844"/>
          </a:xfrm>
        </p:spPr>
        <p:txBody>
          <a:bodyPr/>
          <a:lstStyle/>
          <a:p>
            <a:fld id="{3C35C877-48D7-422F-A9F4-5D389ED8AF85}" type="slidenum">
              <a:rPr lang="pl-PL" smtClean="0"/>
              <a:t>‹#›</a:t>
            </a:fld>
            <a:endParaRPr lang="pl-PL"/>
          </a:p>
        </p:txBody>
      </p:sp>
      <p:sp>
        <p:nvSpPr>
          <p:cNvPr id="13" name="Tytuł 1"/>
          <p:cNvSpPr>
            <a:spLocks noGrp="1"/>
          </p:cNvSpPr>
          <p:nvPr>
            <p:ph type="title"/>
          </p:nvPr>
        </p:nvSpPr>
        <p:spPr>
          <a:xfrm>
            <a:off x="251520" y="256338"/>
            <a:ext cx="7056784" cy="857250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pl-PL" dirty="0"/>
              <a:t>Kliknij, aby edytować styl</a:t>
            </a:r>
          </a:p>
        </p:txBody>
      </p:sp>
    </p:spTree>
    <p:extLst>
      <p:ext uri="{BB962C8B-B14F-4D97-AF65-F5344CB8AC3E}">
        <p14:creationId xmlns:p14="http://schemas.microsoft.com/office/powerpoint/2010/main" val="1835686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ymbol zastępczy daty 3"/>
          <p:cNvSpPr>
            <a:spLocks noGrp="1"/>
          </p:cNvSpPr>
          <p:nvPr>
            <p:ph type="dt" sz="half" idx="10"/>
          </p:nvPr>
        </p:nvSpPr>
        <p:spPr>
          <a:xfrm>
            <a:off x="457200" y="4620165"/>
            <a:ext cx="2133600" cy="273844"/>
          </a:xfrm>
        </p:spPr>
        <p:txBody>
          <a:bodyPr/>
          <a:lstStyle/>
          <a:p>
            <a:fld id="{DADD790C-A9A5-4496-B3B0-6B2C048BF4DC}" type="datetimeFigureOut">
              <a:rPr lang="pl-PL" smtClean="0"/>
              <a:t>16.01.2026</a:t>
            </a:fld>
            <a:endParaRPr lang="pl-PL"/>
          </a:p>
        </p:txBody>
      </p:sp>
      <p:sp>
        <p:nvSpPr>
          <p:cNvPr id="7" name="Symbol zastępczy stopki 4"/>
          <p:cNvSpPr>
            <a:spLocks noGrp="1"/>
          </p:cNvSpPr>
          <p:nvPr>
            <p:ph type="ftr" sz="quarter" idx="11"/>
          </p:nvPr>
        </p:nvSpPr>
        <p:spPr>
          <a:xfrm>
            <a:off x="3124200" y="4620165"/>
            <a:ext cx="2895600" cy="273844"/>
          </a:xfrm>
        </p:spPr>
        <p:txBody>
          <a:bodyPr/>
          <a:lstStyle/>
          <a:p>
            <a:endParaRPr lang="pl-PL"/>
          </a:p>
        </p:txBody>
      </p:sp>
      <p:sp>
        <p:nvSpPr>
          <p:cNvPr id="8" name="Symbol zastępczy numeru slajdu 5"/>
          <p:cNvSpPr>
            <a:spLocks noGrp="1"/>
          </p:cNvSpPr>
          <p:nvPr>
            <p:ph type="sldNum" sz="quarter" idx="12"/>
          </p:nvPr>
        </p:nvSpPr>
        <p:spPr>
          <a:xfrm>
            <a:off x="6553200" y="4620165"/>
            <a:ext cx="2133600" cy="273844"/>
          </a:xfrm>
        </p:spPr>
        <p:txBody>
          <a:bodyPr/>
          <a:lstStyle/>
          <a:p>
            <a:fld id="{3C35C877-48D7-422F-A9F4-5D389ED8AF85}" type="slidenum">
              <a:rPr lang="pl-PL" smtClean="0"/>
              <a:t>‹#›</a:t>
            </a:fld>
            <a:endParaRPr lang="pl-PL"/>
          </a:p>
        </p:txBody>
      </p:sp>
      <p:sp>
        <p:nvSpPr>
          <p:cNvPr id="9" name="Tytuł 1"/>
          <p:cNvSpPr>
            <a:spLocks noGrp="1"/>
          </p:cNvSpPr>
          <p:nvPr>
            <p:ph type="title"/>
          </p:nvPr>
        </p:nvSpPr>
        <p:spPr>
          <a:xfrm>
            <a:off x="251520" y="256338"/>
            <a:ext cx="6984776" cy="857250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pl-PL" dirty="0"/>
              <a:t>Kliknij, aby edytować styl</a:t>
            </a:r>
          </a:p>
        </p:txBody>
      </p:sp>
    </p:spTree>
    <p:extLst>
      <p:ext uri="{BB962C8B-B14F-4D97-AF65-F5344CB8AC3E}">
        <p14:creationId xmlns:p14="http://schemas.microsoft.com/office/powerpoint/2010/main" val="263509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ymbol zastępczy daty 3"/>
          <p:cNvSpPr>
            <a:spLocks noGrp="1"/>
          </p:cNvSpPr>
          <p:nvPr>
            <p:ph type="dt" sz="half" idx="10"/>
          </p:nvPr>
        </p:nvSpPr>
        <p:spPr>
          <a:xfrm>
            <a:off x="457200" y="4620165"/>
            <a:ext cx="2133600" cy="273844"/>
          </a:xfrm>
        </p:spPr>
        <p:txBody>
          <a:bodyPr/>
          <a:lstStyle/>
          <a:p>
            <a:fld id="{DADD790C-A9A5-4496-B3B0-6B2C048BF4DC}" type="datetimeFigureOut">
              <a:rPr lang="pl-PL" smtClean="0"/>
              <a:t>16.01.2026</a:t>
            </a:fld>
            <a:endParaRPr lang="pl-PL"/>
          </a:p>
        </p:txBody>
      </p:sp>
      <p:sp>
        <p:nvSpPr>
          <p:cNvPr id="6" name="Symbol zastępczy stopki 4"/>
          <p:cNvSpPr>
            <a:spLocks noGrp="1"/>
          </p:cNvSpPr>
          <p:nvPr>
            <p:ph type="ftr" sz="quarter" idx="11"/>
          </p:nvPr>
        </p:nvSpPr>
        <p:spPr>
          <a:xfrm>
            <a:off x="3124200" y="4620165"/>
            <a:ext cx="2895600" cy="273844"/>
          </a:xfrm>
        </p:spPr>
        <p:txBody>
          <a:bodyPr/>
          <a:lstStyle/>
          <a:p>
            <a:endParaRPr lang="pl-PL"/>
          </a:p>
        </p:txBody>
      </p:sp>
      <p:sp>
        <p:nvSpPr>
          <p:cNvPr id="7" name="Symbol zastępczy numeru slajdu 5"/>
          <p:cNvSpPr>
            <a:spLocks noGrp="1"/>
          </p:cNvSpPr>
          <p:nvPr>
            <p:ph type="sldNum" sz="quarter" idx="12"/>
          </p:nvPr>
        </p:nvSpPr>
        <p:spPr>
          <a:xfrm>
            <a:off x="6553200" y="4620165"/>
            <a:ext cx="2133600" cy="273844"/>
          </a:xfrm>
        </p:spPr>
        <p:txBody>
          <a:bodyPr/>
          <a:lstStyle/>
          <a:p>
            <a:fld id="{3C35C877-48D7-422F-A9F4-5D389ED8AF8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946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1" y="296056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1167595"/>
            <a:ext cx="5111750" cy="342702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1" y="1167595"/>
            <a:ext cx="3008313" cy="342702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  <p:sp>
        <p:nvSpPr>
          <p:cNvPr id="8" name="Symbol zastępczy daty 3"/>
          <p:cNvSpPr>
            <a:spLocks noGrp="1"/>
          </p:cNvSpPr>
          <p:nvPr>
            <p:ph type="dt" sz="half" idx="10"/>
          </p:nvPr>
        </p:nvSpPr>
        <p:spPr>
          <a:xfrm>
            <a:off x="457200" y="4620165"/>
            <a:ext cx="2133600" cy="273844"/>
          </a:xfrm>
        </p:spPr>
        <p:txBody>
          <a:bodyPr/>
          <a:lstStyle/>
          <a:p>
            <a:fld id="{DADD790C-A9A5-4496-B3B0-6B2C048BF4DC}" type="datetimeFigureOut">
              <a:rPr lang="pl-PL" smtClean="0"/>
              <a:t>16.01.2026</a:t>
            </a:fld>
            <a:endParaRPr lang="pl-PL"/>
          </a:p>
        </p:txBody>
      </p:sp>
      <p:sp>
        <p:nvSpPr>
          <p:cNvPr id="9" name="Symbol zastępczy stopki 4"/>
          <p:cNvSpPr>
            <a:spLocks noGrp="1"/>
          </p:cNvSpPr>
          <p:nvPr>
            <p:ph type="ftr" sz="quarter" idx="11"/>
          </p:nvPr>
        </p:nvSpPr>
        <p:spPr>
          <a:xfrm>
            <a:off x="3124200" y="4620165"/>
            <a:ext cx="2895600" cy="273844"/>
          </a:xfrm>
        </p:spPr>
        <p:txBody>
          <a:bodyPr/>
          <a:lstStyle/>
          <a:p>
            <a:endParaRPr lang="pl-PL"/>
          </a:p>
        </p:txBody>
      </p:sp>
      <p:sp>
        <p:nvSpPr>
          <p:cNvPr id="10" name="Symbol zastępczy numeru slajdu 5"/>
          <p:cNvSpPr>
            <a:spLocks noGrp="1"/>
          </p:cNvSpPr>
          <p:nvPr>
            <p:ph type="sldNum" sz="quarter" idx="12"/>
          </p:nvPr>
        </p:nvSpPr>
        <p:spPr>
          <a:xfrm>
            <a:off x="6553200" y="4620165"/>
            <a:ext cx="2133600" cy="273844"/>
          </a:xfrm>
        </p:spPr>
        <p:txBody>
          <a:bodyPr/>
          <a:lstStyle/>
          <a:p>
            <a:fld id="{3C35C877-48D7-422F-A9F4-5D389ED8AF8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46407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331640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331640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331640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8" name="Symbol zastępczy daty 3"/>
          <p:cNvSpPr>
            <a:spLocks noGrp="1"/>
          </p:cNvSpPr>
          <p:nvPr>
            <p:ph type="dt" sz="half" idx="10"/>
          </p:nvPr>
        </p:nvSpPr>
        <p:spPr>
          <a:xfrm>
            <a:off x="457200" y="4620165"/>
            <a:ext cx="2133600" cy="273844"/>
          </a:xfrm>
        </p:spPr>
        <p:txBody>
          <a:bodyPr/>
          <a:lstStyle/>
          <a:p>
            <a:fld id="{DADD790C-A9A5-4496-B3B0-6B2C048BF4DC}" type="datetimeFigureOut">
              <a:rPr lang="pl-PL" smtClean="0"/>
              <a:t>16.01.2026</a:t>
            </a:fld>
            <a:endParaRPr lang="pl-PL"/>
          </a:p>
        </p:txBody>
      </p:sp>
      <p:sp>
        <p:nvSpPr>
          <p:cNvPr id="9" name="Symbol zastępczy stopki 4"/>
          <p:cNvSpPr>
            <a:spLocks noGrp="1"/>
          </p:cNvSpPr>
          <p:nvPr>
            <p:ph type="ftr" sz="quarter" idx="11"/>
          </p:nvPr>
        </p:nvSpPr>
        <p:spPr>
          <a:xfrm>
            <a:off x="3124200" y="4620165"/>
            <a:ext cx="2895600" cy="273844"/>
          </a:xfrm>
        </p:spPr>
        <p:txBody>
          <a:bodyPr/>
          <a:lstStyle/>
          <a:p>
            <a:endParaRPr lang="pl-PL"/>
          </a:p>
        </p:txBody>
      </p:sp>
      <p:sp>
        <p:nvSpPr>
          <p:cNvPr id="10" name="Symbol zastępczy numeru slajdu 5"/>
          <p:cNvSpPr>
            <a:spLocks noGrp="1"/>
          </p:cNvSpPr>
          <p:nvPr>
            <p:ph type="sldNum" sz="quarter" idx="12"/>
          </p:nvPr>
        </p:nvSpPr>
        <p:spPr>
          <a:xfrm>
            <a:off x="6553200" y="4620165"/>
            <a:ext cx="2133600" cy="273844"/>
          </a:xfrm>
        </p:spPr>
        <p:txBody>
          <a:bodyPr/>
          <a:lstStyle/>
          <a:p>
            <a:fld id="{3C35C877-48D7-422F-A9F4-5D389ED8AF8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43946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457200" y="1275605"/>
            <a:ext cx="8229600" cy="3319017"/>
          </a:xfrm>
        </p:spPr>
        <p:txBody>
          <a:bodyPr vert="eaVert"/>
          <a:lstStyle/>
          <a:p>
            <a:pPr lvl="0"/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D790C-A9A5-4496-B3B0-6B2C048BF4DC}" type="datetimeFigureOut">
              <a:rPr lang="pl-PL" smtClean="0"/>
              <a:t>16.01.2026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5C877-48D7-422F-A9F4-5D389ED8AF85}" type="slidenum">
              <a:rPr lang="pl-PL" smtClean="0"/>
              <a:t>‹#›</a:t>
            </a:fld>
            <a:endParaRPr lang="pl-PL"/>
          </a:p>
        </p:txBody>
      </p:sp>
      <p:sp>
        <p:nvSpPr>
          <p:cNvPr id="7" name="Tytuł 1"/>
          <p:cNvSpPr>
            <a:spLocks noGrp="1"/>
          </p:cNvSpPr>
          <p:nvPr>
            <p:ph type="title"/>
          </p:nvPr>
        </p:nvSpPr>
        <p:spPr>
          <a:xfrm>
            <a:off x="251520" y="256338"/>
            <a:ext cx="7056784" cy="857250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pl-PL" dirty="0"/>
              <a:t>Kliknij, aby edytować styl</a:t>
            </a:r>
          </a:p>
        </p:txBody>
      </p:sp>
    </p:spTree>
    <p:extLst>
      <p:ext uri="{BB962C8B-B14F-4D97-AF65-F5344CB8AC3E}">
        <p14:creationId xmlns:p14="http://schemas.microsoft.com/office/powerpoint/2010/main" val="916955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aa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1275606"/>
            <a:ext cx="2191072" cy="3402378"/>
          </a:xfrm>
        </p:spPr>
        <p:txBody>
          <a:bodyPr vert="eaVert">
            <a:normAutofit/>
          </a:bodyPr>
          <a:lstStyle>
            <a:lvl1pPr>
              <a:defRPr sz="3600" b="1"/>
            </a:lvl1pPr>
          </a:lstStyle>
          <a:p>
            <a:r>
              <a:rPr lang="pl-PL" dirty="0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89341"/>
            <a:ext cx="6019800" cy="4388644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D790C-A9A5-4496-B3B0-6B2C048BF4DC}" type="datetimeFigureOut">
              <a:rPr lang="pl-PL" smtClean="0"/>
              <a:t>16.01.2026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5C877-48D7-422F-A9F4-5D389ED8AF8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86957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6923112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 dirty="0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467798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D790C-A9A5-4496-B3B0-6B2C048BF4DC}" type="datetimeFigureOut">
              <a:rPr lang="pl-PL" smtClean="0"/>
              <a:t>16.01.2026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467798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467798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5C877-48D7-422F-A9F4-5D389ED8AF8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79421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251520" y="1597819"/>
            <a:ext cx="8208912" cy="1045939"/>
          </a:xfrm>
        </p:spPr>
        <p:txBody>
          <a:bodyPr>
            <a:normAutofit/>
          </a:bodyPr>
          <a:lstStyle/>
          <a:p>
            <a:r>
              <a:rPr lang="pl-PL" sz="2400" dirty="0">
                <a:latin typeface="+mn-lt"/>
              </a:rPr>
              <a:t>Platforma predykcji i monitorowania danych</a:t>
            </a:r>
            <a:br>
              <a:rPr lang="pl-PL" sz="2400" dirty="0">
                <a:latin typeface="+mn-lt"/>
              </a:rPr>
            </a:br>
            <a:r>
              <a:rPr lang="pl-PL" sz="2400" dirty="0">
                <a:latin typeface="+mn-lt"/>
              </a:rPr>
              <a:t>zmiennych w czasie z użyciem metod uczenia maszynowego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0" y="2603500"/>
            <a:ext cx="3632448" cy="1314450"/>
          </a:xfrm>
        </p:spPr>
        <p:txBody>
          <a:bodyPr>
            <a:normAutofit/>
          </a:bodyPr>
          <a:lstStyle/>
          <a:p>
            <a:r>
              <a:rPr lang="en-US" sz="1400" dirty="0"/>
              <a:t>Promotor:</a:t>
            </a:r>
          </a:p>
          <a:p>
            <a:r>
              <a:rPr lang="en-US" sz="1400" b="1" dirty="0"/>
              <a:t>Dr. </a:t>
            </a:r>
            <a:r>
              <a:rPr lang="en-US" sz="1400" b="1" dirty="0" err="1"/>
              <a:t>Pawe</a:t>
            </a:r>
            <a:r>
              <a:rPr lang="pl-PL" sz="1400" b="1" dirty="0"/>
              <a:t>ł Powroźnik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8727EB-C708-FF46-C4C7-471819B1387A}"/>
              </a:ext>
            </a:extLst>
          </p:cNvPr>
          <p:cNvSpPr txBox="1"/>
          <p:nvPr/>
        </p:nvSpPr>
        <p:spPr>
          <a:xfrm>
            <a:off x="4152445" y="2603500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l-PL" sz="1400" dirty="0">
                <a:solidFill>
                  <a:srgbClr val="000000"/>
                </a:solidFill>
                <a:cs typeface="Times New Roman"/>
              </a:rPr>
              <a:t>Dyplomant:</a:t>
            </a:r>
            <a:endParaRPr lang="pl-PL" sz="1400" dirty="0">
              <a:solidFill>
                <a:srgbClr val="000000"/>
              </a:solidFill>
              <a:ea typeface="Calibri"/>
              <a:cs typeface="Times New Roman"/>
            </a:endParaRP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400" dirty="0">
              <a:solidFill>
                <a:srgbClr val="000000"/>
              </a:solidFill>
              <a:ea typeface="Calibri"/>
              <a:cs typeface="Times New Roman"/>
            </a:endParaRP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l-PL" sz="1400" b="1" dirty="0">
                <a:solidFill>
                  <a:srgbClr val="000000"/>
                </a:solidFill>
                <a:ea typeface="Calibri"/>
                <a:cs typeface="Calibri"/>
              </a:rPr>
              <a:t>Lutsyk Mykola</a:t>
            </a: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l-PL" sz="1400" dirty="0">
                <a:solidFill>
                  <a:srgbClr val="000000"/>
                </a:solidFill>
                <a:ea typeface="Calibri"/>
                <a:cs typeface="Calibri"/>
              </a:rPr>
              <a:t>Nr Albumu: 99799</a:t>
            </a:r>
          </a:p>
        </p:txBody>
      </p:sp>
    </p:spTree>
    <p:extLst>
      <p:ext uri="{BB962C8B-B14F-4D97-AF65-F5344CB8AC3E}">
        <p14:creationId xmlns:p14="http://schemas.microsoft.com/office/powerpoint/2010/main" val="989070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4">
            <a:extLst>
              <a:ext uri="{FF2B5EF4-FFF2-40B4-BE49-F238E27FC236}">
                <a16:creationId xmlns:a16="http://schemas.microsoft.com/office/drawing/2014/main" id="{02290F57-7C3A-0305-A186-11E23B317E0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pl-PL" dirty="0">
                <a:latin typeface="+mn-lt"/>
                <a:cs typeface="Calibri"/>
              </a:rPr>
              <a:t>Cel i zakres pracy</a:t>
            </a:r>
            <a:endParaRPr lang="pl-PL" dirty="0">
              <a:latin typeface="+mn-lt"/>
            </a:endParaRPr>
          </a:p>
        </p:txBody>
      </p:sp>
      <p:sp>
        <p:nvSpPr>
          <p:cNvPr id="3" name="Symbol zastępczy zawartości 5">
            <a:extLst>
              <a:ext uri="{FF2B5EF4-FFF2-40B4-BE49-F238E27FC236}">
                <a16:creationId xmlns:a16="http://schemas.microsoft.com/office/drawing/2014/main" id="{AD789EE7-FD64-7AE6-77F3-8050C3A390A2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pl-PL" sz="2400" dirty="0">
                <a:cs typeface="Calibri"/>
              </a:rPr>
              <a:t>analiza metod uczenia maszynowego stosowanych do modelowania szeregów czasowych</a:t>
            </a:r>
          </a:p>
          <a:p>
            <a:pPr lvl="0"/>
            <a:r>
              <a:rPr lang="pl-PL" sz="2400" dirty="0">
                <a:cs typeface="Times New Roman"/>
              </a:rPr>
              <a:t>projekt i implementacja platformy umożliwiającej import oraz analizę danych</a:t>
            </a:r>
          </a:p>
          <a:p>
            <a:pPr lvl="0"/>
            <a:r>
              <a:rPr lang="pl-PL" sz="2400" dirty="0">
                <a:cs typeface="Times New Roman"/>
              </a:rPr>
              <a:t>integracja modułów do wyboru cech oraz analizę danych</a:t>
            </a:r>
          </a:p>
          <a:p>
            <a:pPr lvl="0"/>
            <a:r>
              <a:rPr lang="pl-PL" sz="2400" dirty="0">
                <a:cs typeface="Times New Roman"/>
              </a:rPr>
              <a:t>opracowanie modeli predykcyjmych i ich parametrów</a:t>
            </a:r>
          </a:p>
          <a:p>
            <a:pPr lvl="0"/>
            <a:r>
              <a:rPr lang="pl-PL" sz="2400" dirty="0">
                <a:cs typeface="Times New Roman"/>
              </a:rPr>
              <a:t>walidacja skuteczności modeli na rzeczywistych danych oraz prezentację wyników w formie interaktywnego panelu użytkownika</a:t>
            </a:r>
            <a:endParaRPr lang="en-US" sz="2400" dirty="0"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E8F0E-4B2F-40DE-C103-0B94DBF11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4">
            <a:extLst>
              <a:ext uri="{FF2B5EF4-FFF2-40B4-BE49-F238E27FC236}">
                <a16:creationId xmlns:a16="http://schemas.microsoft.com/office/drawing/2014/main" id="{DECC4906-E858-F1C4-12EE-511A9B9EB88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pl-PL">
                <a:latin typeface="+mn-lt"/>
                <a:cs typeface="Calibri"/>
              </a:rPr>
              <a:t>Zastosowane technologie</a:t>
            </a:r>
            <a:endParaRPr lang="pl-PL">
              <a:latin typeface="+mn-lt"/>
            </a:endParaRPr>
          </a:p>
        </p:txBody>
      </p:sp>
      <p:pic>
        <p:nvPicPr>
          <p:cNvPr id="1026" name="Picture 2" descr="Python (programming language) - Wikipedia">
            <a:extLst>
              <a:ext uri="{FF2B5EF4-FFF2-40B4-BE49-F238E27FC236}">
                <a16:creationId xmlns:a16="http://schemas.microsoft.com/office/drawing/2014/main" id="{94E1F787-A89C-6F3E-181C-C2265CB1D7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2793" y="1504785"/>
            <a:ext cx="1465604" cy="146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ree Timescaledb Logo Logo Icon - Download or Copy SVG, PNG | IconScout">
            <a:extLst>
              <a:ext uri="{FF2B5EF4-FFF2-40B4-BE49-F238E27FC236}">
                <a16:creationId xmlns:a16="http://schemas.microsoft.com/office/drawing/2014/main" id="{1255DA1F-91BB-C7DC-8CBB-C15DD14E46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9455" y="3139760"/>
            <a:ext cx="1614369" cy="1614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eact original wordmark logo - Free Icon PNG, SVG">
            <a:extLst>
              <a:ext uri="{FF2B5EF4-FFF2-40B4-BE49-F238E27FC236}">
                <a16:creationId xmlns:a16="http://schemas.microsoft.com/office/drawing/2014/main" id="{CB5649A9-C696-590B-09A1-C71EC08FA3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5711" y="2988329"/>
            <a:ext cx="1614369" cy="1614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Docker mark logo in vector formats EPS, SVG - Brandlogos.net">
            <a:extLst>
              <a:ext uri="{FF2B5EF4-FFF2-40B4-BE49-F238E27FC236}">
                <a16:creationId xmlns:a16="http://schemas.microsoft.com/office/drawing/2014/main" id="{BCBB993B-CD5D-D389-2D0F-876F47AF4D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275606"/>
            <a:ext cx="1502296" cy="1185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03BC7A16-93E5-745E-49D1-1FD490CAF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1113588"/>
            <a:ext cx="2971542" cy="1602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1A83670B-66E7-8538-B354-CD97BC0A8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3075806"/>
            <a:ext cx="1368152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1607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4">
            <a:extLst>
              <a:ext uri="{FF2B5EF4-FFF2-40B4-BE49-F238E27FC236}">
                <a16:creationId xmlns:a16="http://schemas.microsoft.com/office/drawing/2014/main" id="{9F33FBBE-2E5E-9CD3-C374-660A23A279D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pl-PL" dirty="0">
                <a:latin typeface="+mn-lt"/>
              </a:rPr>
              <a:t>Architektura systemu</a:t>
            </a:r>
          </a:p>
        </p:txBody>
      </p:sp>
      <p:sp>
        <p:nvSpPr>
          <p:cNvPr id="9" name="Tytuł 4">
            <a:extLst>
              <a:ext uri="{FF2B5EF4-FFF2-40B4-BE49-F238E27FC236}">
                <a16:creationId xmlns:a16="http://schemas.microsoft.com/office/drawing/2014/main" id="{170855DE-37FC-CD93-3231-C41CCC0FA489}"/>
              </a:ext>
            </a:extLst>
          </p:cNvPr>
          <p:cNvSpPr txBox="1">
            <a:spLocks/>
          </p:cNvSpPr>
          <p:nvPr/>
        </p:nvSpPr>
        <p:spPr>
          <a:xfrm>
            <a:off x="-1692696" y="987574"/>
            <a:ext cx="7056784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2400" dirty="0">
                <a:latin typeface="+mn-lt"/>
              </a:rPr>
              <a:t>Modularna architektura: </a:t>
            </a:r>
          </a:p>
        </p:txBody>
      </p:sp>
      <p:pic>
        <p:nvPicPr>
          <p:cNvPr id="11" name="Picture 10" descr="A diagram of a company logo&#10;&#10;AI-generated content may be incorrect.">
            <a:extLst>
              <a:ext uri="{FF2B5EF4-FFF2-40B4-BE49-F238E27FC236}">
                <a16:creationId xmlns:a16="http://schemas.microsoft.com/office/drawing/2014/main" id="{BC7A3831-8CEB-50E6-376F-2CB51AC8D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52" y="1363129"/>
            <a:ext cx="4786017" cy="1935548"/>
          </a:xfrm>
          <a:prstGeom prst="rect">
            <a:avLst/>
          </a:prstGeom>
        </p:spPr>
      </p:pic>
      <p:sp>
        <p:nvSpPr>
          <p:cNvPr id="12" name="Tytuł 4">
            <a:extLst>
              <a:ext uri="{FF2B5EF4-FFF2-40B4-BE49-F238E27FC236}">
                <a16:creationId xmlns:a16="http://schemas.microsoft.com/office/drawing/2014/main" id="{DEA22FFF-2015-B0F3-E803-5B52C6DA4282}"/>
              </a:ext>
            </a:extLst>
          </p:cNvPr>
          <p:cNvSpPr txBox="1">
            <a:spLocks/>
          </p:cNvSpPr>
          <p:nvPr/>
        </p:nvSpPr>
        <p:spPr>
          <a:xfrm>
            <a:off x="107504" y="1635646"/>
            <a:ext cx="4268897" cy="24482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latinLnBrk="1">
              <a:lnSpc>
                <a:spcPct val="150000"/>
              </a:lnSpc>
            </a:pPr>
            <a:r>
              <a:rPr lang="en-US" sz="1600" b="0" dirty="0">
                <a:latin typeface="+mn-lt"/>
                <a:cs typeface="Times New Roman" panose="02020603050405020304" pitchFamily="18" charset="0"/>
              </a:rPr>
              <a:t>• </a:t>
            </a:r>
            <a:r>
              <a:rPr lang="en-US" sz="2000" b="0" dirty="0" err="1">
                <a:latin typeface="+mn-lt"/>
                <a:cs typeface="Times New Roman" panose="02020603050405020304" pitchFamily="18" charset="0"/>
              </a:rPr>
              <a:t>Źródło</a:t>
            </a:r>
            <a:r>
              <a:rPr lang="en-US" sz="2000" b="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2000" b="0" dirty="0" err="1">
                <a:latin typeface="+mn-lt"/>
                <a:cs typeface="Times New Roman" panose="02020603050405020304" pitchFamily="18" charset="0"/>
              </a:rPr>
              <a:t>danych</a:t>
            </a:r>
            <a:r>
              <a:rPr lang="en-US" sz="2000" b="0" dirty="0">
                <a:latin typeface="+mn-lt"/>
                <a:cs typeface="Times New Roman" panose="02020603050405020304" pitchFamily="18" charset="0"/>
              </a:rPr>
              <a:t>: Binance API</a:t>
            </a:r>
          </a:p>
          <a:p>
            <a:pPr algn="l" latinLnBrk="1">
              <a:lnSpc>
                <a:spcPct val="150000"/>
              </a:lnSpc>
            </a:pPr>
            <a:r>
              <a:rPr lang="en-US" sz="2000" b="0" dirty="0">
                <a:latin typeface="+mn-lt"/>
                <a:cs typeface="Times New Roman" panose="02020603050405020304" pitchFamily="18" charset="0"/>
              </a:rPr>
              <a:t>• Baza: </a:t>
            </a:r>
            <a:r>
              <a:rPr lang="en-US" sz="2000" b="0" dirty="0" err="1">
                <a:latin typeface="+mn-lt"/>
                <a:cs typeface="Times New Roman" panose="02020603050405020304" pitchFamily="18" charset="0"/>
              </a:rPr>
              <a:t>TimescaleDB</a:t>
            </a:r>
            <a:r>
              <a:rPr lang="en-US" sz="2000" b="0" dirty="0">
                <a:latin typeface="+mn-lt"/>
                <a:cs typeface="Times New Roman" panose="02020603050405020304" pitchFamily="18" charset="0"/>
              </a:rPr>
              <a:t> (PostgreSQL)</a:t>
            </a:r>
          </a:p>
          <a:p>
            <a:pPr algn="l" latinLnBrk="1">
              <a:lnSpc>
                <a:spcPct val="150000"/>
              </a:lnSpc>
            </a:pPr>
            <a:r>
              <a:rPr lang="en-US" sz="2000" b="0" dirty="0">
                <a:latin typeface="+mn-lt"/>
                <a:cs typeface="Times New Roman" panose="02020603050405020304" pitchFamily="18" charset="0"/>
              </a:rPr>
              <a:t>• ML Engine: Python (Pandas, TA-Lib)</a:t>
            </a:r>
          </a:p>
          <a:p>
            <a:pPr algn="l" latinLnBrk="1">
              <a:lnSpc>
                <a:spcPct val="150000"/>
              </a:lnSpc>
            </a:pPr>
            <a:r>
              <a:rPr lang="en-US" sz="2000" b="0" dirty="0">
                <a:latin typeface="+mn-lt"/>
                <a:cs typeface="Times New Roman" panose="02020603050405020304" pitchFamily="18" charset="0"/>
              </a:rPr>
              <a:t>• Backend: </a:t>
            </a:r>
            <a:r>
              <a:rPr lang="en-US" sz="2000" b="0" dirty="0" err="1">
                <a:latin typeface="+mn-lt"/>
                <a:cs typeface="Times New Roman" panose="02020603050405020304" pitchFamily="18" charset="0"/>
              </a:rPr>
              <a:t>FastAPI</a:t>
            </a:r>
            <a:endParaRPr lang="en-US" sz="2000" b="0" dirty="0">
              <a:latin typeface="+mn-lt"/>
              <a:cs typeface="Times New Roman" panose="02020603050405020304" pitchFamily="18" charset="0"/>
            </a:endParaRPr>
          </a:p>
          <a:p>
            <a:pPr algn="l" latinLnBrk="1">
              <a:lnSpc>
                <a:spcPct val="150000"/>
              </a:lnSpc>
            </a:pPr>
            <a:r>
              <a:rPr lang="en-US" sz="2000" b="0" dirty="0">
                <a:latin typeface="+mn-lt"/>
                <a:cs typeface="Times New Roman" panose="02020603050405020304" pitchFamily="18" charset="0"/>
              </a:rPr>
              <a:t>• Frontend: React.js + Recharts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FB1BD-42E2-70E7-C7B0-82BEAFDBE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4">
            <a:extLst>
              <a:ext uri="{FF2B5EF4-FFF2-40B4-BE49-F238E27FC236}">
                <a16:creationId xmlns:a16="http://schemas.microsoft.com/office/drawing/2014/main" id="{99D7B4F1-DFD8-1686-EF4F-992DCECA5FC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pl-PL" dirty="0">
                <a:latin typeface="+mn-lt"/>
                <a:cs typeface="Calibri"/>
              </a:rPr>
              <a:t>Inżynieria cech</a:t>
            </a:r>
            <a:endParaRPr lang="pl-PL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157820-E830-3428-8CA3-BF3589BE3D3F}"/>
              </a:ext>
            </a:extLst>
          </p:cNvPr>
          <p:cNvSpPr txBox="1"/>
          <p:nvPr/>
        </p:nvSpPr>
        <p:spPr>
          <a:xfrm>
            <a:off x="836712" y="1063661"/>
            <a:ext cx="5886400" cy="3366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ct val="150000"/>
              </a:lnSpc>
              <a:buNone/>
            </a:pPr>
            <a:r>
              <a:rPr lang="pl-PL" b="1" dirty="0">
                <a:effectLst/>
                <a:cs typeface="Times New Roman" panose="02020603050405020304" pitchFamily="18" charset="0"/>
              </a:rPr>
              <a:t>1</a:t>
            </a:r>
            <a:r>
              <a:rPr lang="en-US" b="1" dirty="0">
                <a:effectLst/>
                <a:cs typeface="Times New Roman" panose="02020603050405020304" pitchFamily="18" charset="0"/>
              </a:rPr>
              <a:t>. WSKAŹNIKI TECHNICZNE:</a:t>
            </a:r>
          </a:p>
          <a:p>
            <a:pPr algn="l" latinLnBrk="1">
              <a:lnSpc>
                <a:spcPct val="150000"/>
              </a:lnSpc>
              <a:buNone/>
            </a:pPr>
            <a:r>
              <a:rPr lang="en-US" b="0" dirty="0">
                <a:effectLst/>
                <a:cs typeface="Times New Roman" panose="02020603050405020304" pitchFamily="18" charset="0"/>
              </a:rPr>
              <a:t>   • RSI </a:t>
            </a:r>
          </a:p>
          <a:p>
            <a:pPr algn="l" latinLnBrk="1">
              <a:lnSpc>
                <a:spcPct val="150000"/>
              </a:lnSpc>
              <a:buNone/>
            </a:pPr>
            <a:r>
              <a:rPr lang="en-US" b="0" dirty="0">
                <a:effectLst/>
                <a:cs typeface="Times New Roman" panose="02020603050405020304" pitchFamily="18" charset="0"/>
              </a:rPr>
              <a:t>   • MACD + Signal</a:t>
            </a:r>
          </a:p>
          <a:p>
            <a:pPr algn="l" latinLnBrk="1">
              <a:lnSpc>
                <a:spcPct val="150000"/>
              </a:lnSpc>
              <a:buNone/>
            </a:pPr>
            <a:r>
              <a:rPr lang="en-US" b="0" dirty="0">
                <a:effectLst/>
                <a:cs typeface="Times New Roman" panose="02020603050405020304" pitchFamily="18" charset="0"/>
              </a:rPr>
              <a:t>   • SMA/EMA</a:t>
            </a:r>
          </a:p>
          <a:p>
            <a:pPr algn="l" latinLnBrk="1">
              <a:lnSpc>
                <a:spcPct val="150000"/>
              </a:lnSpc>
              <a:buNone/>
            </a:pPr>
            <a:r>
              <a:rPr lang="en-US" b="0" dirty="0">
                <a:effectLst/>
                <a:cs typeface="Times New Roman" panose="02020603050405020304" pitchFamily="18" charset="0"/>
              </a:rPr>
              <a:t>   • Bollinger Bands</a:t>
            </a:r>
          </a:p>
          <a:p>
            <a:pPr algn="l" latinLnBrk="1">
              <a:lnSpc>
                <a:spcPct val="150000"/>
              </a:lnSpc>
              <a:buNone/>
            </a:pPr>
            <a:r>
              <a:rPr lang="en-US" b="0" dirty="0">
                <a:effectLst/>
                <a:cs typeface="Times New Roman" panose="02020603050405020304" pitchFamily="18" charset="0"/>
              </a:rPr>
              <a:t>   • ATR (Average True Range)</a:t>
            </a:r>
          </a:p>
          <a:p>
            <a:pPr algn="l" latinLnBrk="1">
              <a:lnSpc>
                <a:spcPct val="150000"/>
              </a:lnSpc>
              <a:buNone/>
            </a:pPr>
            <a:endParaRPr lang="en-US" b="0" dirty="0">
              <a:effectLst/>
              <a:cs typeface="Times New Roman" panose="02020603050405020304" pitchFamily="18" charset="0"/>
            </a:endParaRPr>
          </a:p>
          <a:p>
            <a:pPr algn="l" latinLnBrk="1">
              <a:lnSpc>
                <a:spcPct val="150000"/>
              </a:lnSpc>
              <a:buNone/>
            </a:pPr>
            <a:endParaRPr lang="en-US" b="0" dirty="0">
              <a:effectLst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0D0D8E-14FC-1587-0C99-44BCE0BBBC65}"/>
              </a:ext>
            </a:extLst>
          </p:cNvPr>
          <p:cNvSpPr txBox="1"/>
          <p:nvPr/>
        </p:nvSpPr>
        <p:spPr>
          <a:xfrm>
            <a:off x="4702760" y="2261797"/>
            <a:ext cx="4572000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ct val="150000"/>
              </a:lnSpc>
              <a:buNone/>
            </a:pPr>
            <a:r>
              <a:rPr lang="en-US" b="1" dirty="0">
                <a:effectLst/>
              </a:rPr>
              <a:t>3. CECHY OPÓŹNIONE:</a:t>
            </a:r>
          </a:p>
          <a:p>
            <a:pPr algn="l" latinLnBrk="1">
              <a:lnSpc>
                <a:spcPct val="150000"/>
              </a:lnSpc>
              <a:buNone/>
            </a:pPr>
            <a:r>
              <a:rPr lang="en-US" b="0" dirty="0">
                <a:effectLst/>
              </a:rPr>
              <a:t>   • </a:t>
            </a:r>
            <a:r>
              <a:rPr lang="en-US" b="0" dirty="0" err="1">
                <a:effectLst/>
              </a:rPr>
              <a:t>Historyczne</a:t>
            </a:r>
            <a:r>
              <a:rPr lang="en-US" b="0" dirty="0">
                <a:effectLst/>
              </a:rPr>
              <a:t> </a:t>
            </a:r>
            <a:r>
              <a:rPr lang="en-US" b="0" dirty="0" err="1">
                <a:effectLst/>
              </a:rPr>
              <a:t>ceny</a:t>
            </a:r>
            <a:r>
              <a:rPr lang="en-US" b="0" dirty="0">
                <a:effectLst/>
              </a:rPr>
              <a:t> </a:t>
            </a:r>
          </a:p>
          <a:p>
            <a:pPr algn="l" latinLnBrk="1">
              <a:lnSpc>
                <a:spcPct val="150000"/>
              </a:lnSpc>
              <a:buNone/>
            </a:pPr>
            <a:r>
              <a:rPr lang="en-US" b="0" dirty="0">
                <a:effectLst/>
              </a:rPr>
              <a:t>   • </a:t>
            </a:r>
            <a:r>
              <a:rPr lang="en-US" b="0" dirty="0" err="1">
                <a:effectLst/>
              </a:rPr>
              <a:t>Historyczne</a:t>
            </a:r>
            <a:r>
              <a:rPr lang="en-US" b="0" dirty="0">
                <a:effectLst/>
              </a:rPr>
              <a:t> </a:t>
            </a:r>
            <a:r>
              <a:rPr lang="en-US" b="0" dirty="0" err="1">
                <a:effectLst/>
              </a:rPr>
              <a:t>wolumeny</a:t>
            </a:r>
            <a:endParaRPr lang="en-US" b="0" dirty="0">
              <a:effectLst/>
            </a:endParaRPr>
          </a:p>
          <a:p>
            <a:pPr algn="l" latinLnBrk="1">
              <a:lnSpc>
                <a:spcPct val="150000"/>
              </a:lnSpc>
              <a:buNone/>
            </a:pPr>
            <a:r>
              <a:rPr lang="en-US" b="1" dirty="0">
                <a:effectLst/>
              </a:rPr>
              <a:t>4. CECHY WOLUMENOWE:</a:t>
            </a:r>
          </a:p>
          <a:p>
            <a:pPr algn="l" latinLnBrk="1">
              <a:lnSpc>
                <a:spcPct val="150000"/>
              </a:lnSpc>
              <a:buNone/>
            </a:pPr>
            <a:r>
              <a:rPr lang="en-US" b="0" dirty="0">
                <a:effectLst/>
              </a:rPr>
              <a:t>   • </a:t>
            </a:r>
            <a:r>
              <a:rPr lang="en-US" b="0" dirty="0" err="1">
                <a:effectLst/>
              </a:rPr>
              <a:t>Stosunek</a:t>
            </a:r>
            <a:r>
              <a:rPr lang="en-US" b="0" dirty="0">
                <a:effectLst/>
              </a:rPr>
              <a:t> </a:t>
            </a:r>
            <a:r>
              <a:rPr lang="en-US" b="0" dirty="0" err="1">
                <a:effectLst/>
              </a:rPr>
              <a:t>kupno</a:t>
            </a:r>
            <a:r>
              <a:rPr lang="en-US" b="0" dirty="0">
                <a:effectLst/>
              </a:rPr>
              <a:t>/</a:t>
            </a:r>
            <a:r>
              <a:rPr lang="en-US" b="0" dirty="0" err="1">
                <a:effectLst/>
              </a:rPr>
              <a:t>sprzedaż</a:t>
            </a:r>
            <a:endParaRPr lang="en-US" b="0" dirty="0">
              <a:effectLst/>
            </a:endParaRPr>
          </a:p>
          <a:p>
            <a:pPr algn="l" latinLnBrk="1">
              <a:lnSpc>
                <a:spcPct val="150000"/>
              </a:lnSpc>
              <a:buNone/>
            </a:pPr>
            <a:r>
              <a:rPr lang="en-US" b="0" dirty="0">
                <a:effectLst/>
              </a:rPr>
              <a:t>   • OBV (On-Balance Volume)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6CB6C1-52A6-3896-83ED-499DD931C3BC}"/>
              </a:ext>
            </a:extLst>
          </p:cNvPr>
          <p:cNvSpPr txBox="1"/>
          <p:nvPr/>
        </p:nvSpPr>
        <p:spPr>
          <a:xfrm>
            <a:off x="4702760" y="1042374"/>
            <a:ext cx="4572000" cy="170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ct val="150000"/>
              </a:lnSpc>
              <a:buNone/>
            </a:pPr>
            <a:r>
              <a:rPr lang="en-US" b="1" dirty="0">
                <a:effectLst/>
                <a:cs typeface="Times New Roman" panose="02020603050405020304" pitchFamily="18" charset="0"/>
              </a:rPr>
              <a:t>2. CECHY CZASOWE:</a:t>
            </a:r>
          </a:p>
          <a:p>
            <a:pPr algn="l" latinLnBrk="1">
              <a:lnSpc>
                <a:spcPct val="150000"/>
              </a:lnSpc>
              <a:buNone/>
            </a:pPr>
            <a:r>
              <a:rPr lang="en-US" b="0" dirty="0">
                <a:effectLst/>
                <a:cs typeface="Times New Roman" panose="02020603050405020304" pitchFamily="18" charset="0"/>
              </a:rPr>
              <a:t>   • </a:t>
            </a:r>
            <a:r>
              <a:rPr lang="en-US" b="0" dirty="0" err="1">
                <a:effectLst/>
                <a:cs typeface="Times New Roman" panose="02020603050405020304" pitchFamily="18" charset="0"/>
              </a:rPr>
              <a:t>Godzina</a:t>
            </a:r>
            <a:r>
              <a:rPr lang="en-US" b="0" dirty="0">
                <a:effectLst/>
                <a:cs typeface="Times New Roman" panose="02020603050405020304" pitchFamily="18" charset="0"/>
              </a:rPr>
              <a:t>, </a:t>
            </a:r>
            <a:r>
              <a:rPr lang="en-US" b="0" dirty="0" err="1">
                <a:effectLst/>
                <a:cs typeface="Times New Roman" panose="02020603050405020304" pitchFamily="18" charset="0"/>
              </a:rPr>
              <a:t>dzień</a:t>
            </a:r>
            <a:r>
              <a:rPr lang="en-US" b="0" dirty="0">
                <a:effectLst/>
                <a:cs typeface="Times New Roman" panose="02020603050405020304" pitchFamily="18" charset="0"/>
              </a:rPr>
              <a:t> </a:t>
            </a:r>
            <a:r>
              <a:rPr lang="en-US" b="0" dirty="0" err="1">
                <a:effectLst/>
                <a:cs typeface="Times New Roman" panose="02020603050405020304" pitchFamily="18" charset="0"/>
              </a:rPr>
              <a:t>tygodnia</a:t>
            </a:r>
            <a:endParaRPr lang="en-US" b="0" dirty="0">
              <a:effectLst/>
              <a:cs typeface="Times New Roman" panose="02020603050405020304" pitchFamily="18" charset="0"/>
            </a:endParaRPr>
          </a:p>
          <a:p>
            <a:pPr algn="l" latinLnBrk="1">
              <a:lnSpc>
                <a:spcPct val="150000"/>
              </a:lnSpc>
              <a:buNone/>
            </a:pPr>
            <a:r>
              <a:rPr lang="en-US" b="0" dirty="0">
                <a:effectLst/>
                <a:cs typeface="Times New Roman" panose="02020603050405020304" pitchFamily="18" charset="0"/>
              </a:rPr>
              <a:t>   • </a:t>
            </a:r>
            <a:r>
              <a:rPr lang="en-US" b="0" dirty="0" err="1">
                <a:effectLst/>
                <a:cs typeface="Times New Roman" panose="02020603050405020304" pitchFamily="18" charset="0"/>
              </a:rPr>
              <a:t>Kodowanie</a:t>
            </a:r>
            <a:r>
              <a:rPr lang="en-US" b="0" dirty="0">
                <a:effectLst/>
                <a:cs typeface="Times New Roman" panose="02020603050405020304" pitchFamily="18" charset="0"/>
              </a:rPr>
              <a:t> </a:t>
            </a:r>
            <a:r>
              <a:rPr lang="en-US" b="0" dirty="0" err="1">
                <a:effectLst/>
                <a:cs typeface="Times New Roman" panose="02020603050405020304" pitchFamily="18" charset="0"/>
              </a:rPr>
              <a:t>cykliczn</a:t>
            </a:r>
            <a:r>
              <a:rPr lang="pl-PL" b="0" dirty="0">
                <a:effectLst/>
                <a:cs typeface="Times New Roman" panose="02020603050405020304" pitchFamily="18" charset="0"/>
              </a:rPr>
              <a:t>e</a:t>
            </a:r>
            <a:endParaRPr lang="en-US" b="0" dirty="0">
              <a:effectLst/>
              <a:cs typeface="Times New Roman" panose="02020603050405020304" pitchFamily="18" charset="0"/>
            </a:endParaRPr>
          </a:p>
          <a:p>
            <a:pPr algn="l" latinLnBrk="1">
              <a:lnSpc>
                <a:spcPct val="150000"/>
              </a:lnSpc>
              <a:buNone/>
            </a:pPr>
            <a:endParaRPr lang="en-US" b="0" dirty="0">
              <a:effectLst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9196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A661D-BD3A-B0E6-29F9-E994E9216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4">
            <a:extLst>
              <a:ext uri="{FF2B5EF4-FFF2-40B4-BE49-F238E27FC236}">
                <a16:creationId xmlns:a16="http://schemas.microsoft.com/office/drawing/2014/main" id="{074EF3AD-02EE-1D8F-A795-6D485705C8E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pl-PL" dirty="0">
                <a:latin typeface="+mn-lt"/>
                <a:cs typeface="Calibri"/>
              </a:rPr>
              <a:t>Model uczenia maszynowego</a:t>
            </a:r>
            <a:endParaRPr lang="pl-PL" dirty="0">
              <a:latin typeface="+mn-lt"/>
            </a:endParaRPr>
          </a:p>
        </p:txBody>
      </p:sp>
      <p:sp>
        <p:nvSpPr>
          <p:cNvPr id="3" name="Tytuł 4">
            <a:extLst>
              <a:ext uri="{FF2B5EF4-FFF2-40B4-BE49-F238E27FC236}">
                <a16:creationId xmlns:a16="http://schemas.microsoft.com/office/drawing/2014/main" id="{81FCBA42-E57E-2CAC-96D4-83F169690B27}"/>
              </a:ext>
            </a:extLst>
          </p:cNvPr>
          <p:cNvSpPr txBox="1">
            <a:spLocks/>
          </p:cNvSpPr>
          <p:nvPr/>
        </p:nvSpPr>
        <p:spPr>
          <a:xfrm>
            <a:off x="-1332656" y="1113588"/>
            <a:ext cx="7056784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1800" dirty="0">
                <a:latin typeface="+mn-lt"/>
              </a:rPr>
              <a:t>Model: CatBoost Classifier</a:t>
            </a:r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3639FAD0-9DA8-1F69-3A71-0696DD5433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948099"/>
            <a:ext cx="1199193" cy="1199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10D519-D9B8-E3DE-14F7-D1438962A2FD}"/>
              </a:ext>
            </a:extLst>
          </p:cNvPr>
          <p:cNvSpPr txBox="1"/>
          <p:nvPr/>
        </p:nvSpPr>
        <p:spPr>
          <a:xfrm>
            <a:off x="1050179" y="2448666"/>
            <a:ext cx="2707463" cy="2951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ct val="150000"/>
              </a:lnSpc>
              <a:buNone/>
            </a:pPr>
            <a:r>
              <a:rPr lang="en-US" b="1" dirty="0">
                <a:effectLst/>
                <a:cs typeface="Times New Roman" panose="02020603050405020304" pitchFamily="18" charset="0"/>
              </a:rPr>
              <a:t>PARAMETRY</a:t>
            </a:r>
            <a:r>
              <a:rPr lang="en-US" b="0" dirty="0">
                <a:effectLst/>
                <a:cs typeface="Times New Roman" panose="02020603050405020304" pitchFamily="18" charset="0"/>
              </a:rPr>
              <a:t>:</a:t>
            </a:r>
          </a:p>
          <a:p>
            <a:pPr algn="l" latinLnBrk="1">
              <a:lnSpc>
                <a:spcPct val="150000"/>
              </a:lnSpc>
              <a:buNone/>
            </a:pPr>
            <a:r>
              <a:rPr lang="en-US" b="0" dirty="0">
                <a:effectLst/>
                <a:cs typeface="Times New Roman" panose="02020603050405020304" pitchFamily="18" charset="0"/>
              </a:rPr>
              <a:t>• Iterations</a:t>
            </a:r>
          </a:p>
          <a:p>
            <a:pPr algn="l" latinLnBrk="1">
              <a:lnSpc>
                <a:spcPct val="150000"/>
              </a:lnSpc>
              <a:buNone/>
            </a:pPr>
            <a:r>
              <a:rPr lang="en-US" b="0" dirty="0">
                <a:effectLst/>
                <a:cs typeface="Times New Roman" panose="02020603050405020304" pitchFamily="18" charset="0"/>
              </a:rPr>
              <a:t>• Learning rate</a:t>
            </a:r>
          </a:p>
          <a:p>
            <a:pPr algn="l" latinLnBrk="1">
              <a:lnSpc>
                <a:spcPct val="150000"/>
              </a:lnSpc>
              <a:buNone/>
            </a:pPr>
            <a:r>
              <a:rPr lang="en-US" b="0" dirty="0">
                <a:effectLst/>
                <a:cs typeface="Times New Roman" panose="02020603050405020304" pitchFamily="18" charset="0"/>
              </a:rPr>
              <a:t>• Depth</a:t>
            </a:r>
          </a:p>
          <a:p>
            <a:pPr algn="l" latinLnBrk="1">
              <a:lnSpc>
                <a:spcPct val="150000"/>
              </a:lnSpc>
              <a:buNone/>
            </a:pPr>
            <a:r>
              <a:rPr lang="en-US" b="0" dirty="0">
                <a:effectLst/>
                <a:cs typeface="Times New Roman" panose="02020603050405020304" pitchFamily="18" charset="0"/>
              </a:rPr>
              <a:t>• Loss function</a:t>
            </a:r>
          </a:p>
          <a:p>
            <a:pPr algn="l" latinLnBrk="1">
              <a:lnSpc>
                <a:spcPct val="150000"/>
              </a:lnSpc>
              <a:buNone/>
            </a:pPr>
            <a:endParaRPr lang="en-US" b="0" dirty="0">
              <a:effectLst/>
              <a:cs typeface="Times New Roman" panose="02020603050405020304" pitchFamily="18" charset="0"/>
            </a:endParaRPr>
          </a:p>
          <a:p>
            <a:pPr algn="l" latinLnBrk="1">
              <a:lnSpc>
                <a:spcPct val="150000"/>
              </a:lnSpc>
              <a:buNone/>
            </a:pPr>
            <a:endParaRPr lang="en-US" b="0" dirty="0">
              <a:effectLst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ADB670-6294-A84D-1943-E391232868E2}"/>
              </a:ext>
            </a:extLst>
          </p:cNvPr>
          <p:cNvSpPr txBox="1"/>
          <p:nvPr/>
        </p:nvSpPr>
        <p:spPr>
          <a:xfrm>
            <a:off x="4067944" y="2448666"/>
            <a:ext cx="4517535" cy="2125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ct val="150000"/>
              </a:lnSpc>
              <a:buNone/>
            </a:pPr>
            <a:r>
              <a:rPr lang="en-US" b="1" dirty="0">
                <a:effectLst/>
                <a:cs typeface="Times New Roman" panose="02020603050405020304" pitchFamily="18" charset="0"/>
              </a:rPr>
              <a:t>PRZYGOTOWANIE DANYCH:</a:t>
            </a:r>
          </a:p>
          <a:p>
            <a:pPr algn="l" latinLnBrk="1">
              <a:lnSpc>
                <a:spcPct val="150000"/>
              </a:lnSpc>
              <a:buNone/>
            </a:pPr>
            <a:r>
              <a:rPr lang="en-US" b="0" dirty="0">
                <a:effectLst/>
                <a:cs typeface="Times New Roman" panose="02020603050405020304" pitchFamily="18" charset="0"/>
              </a:rPr>
              <a:t>• </a:t>
            </a:r>
            <a:r>
              <a:rPr lang="en-US" b="0" dirty="0" err="1">
                <a:effectLst/>
                <a:cs typeface="Times New Roman" panose="02020603050405020304" pitchFamily="18" charset="0"/>
              </a:rPr>
              <a:t>Selekcja</a:t>
            </a:r>
            <a:r>
              <a:rPr lang="en-US" b="0" dirty="0">
                <a:effectLst/>
                <a:cs typeface="Times New Roman" panose="02020603050405020304" pitchFamily="18" charset="0"/>
              </a:rPr>
              <a:t> </a:t>
            </a:r>
            <a:r>
              <a:rPr lang="en-US" b="0" dirty="0" err="1">
                <a:effectLst/>
                <a:cs typeface="Times New Roman" panose="02020603050405020304" pitchFamily="18" charset="0"/>
              </a:rPr>
              <a:t>cech</a:t>
            </a:r>
            <a:r>
              <a:rPr lang="en-US" b="0" dirty="0">
                <a:effectLst/>
                <a:cs typeface="Times New Roman" panose="02020603050405020304" pitchFamily="18" charset="0"/>
              </a:rPr>
              <a:t>: </a:t>
            </a:r>
            <a:r>
              <a:rPr lang="en-US" b="0" dirty="0" err="1">
                <a:effectLst/>
                <a:cs typeface="Times New Roman" panose="02020603050405020304" pitchFamily="18" charset="0"/>
              </a:rPr>
              <a:t>SelectKBest</a:t>
            </a:r>
            <a:r>
              <a:rPr lang="en-US" b="0" dirty="0">
                <a:effectLst/>
                <a:cs typeface="Times New Roman" panose="02020603050405020304" pitchFamily="18" charset="0"/>
              </a:rPr>
              <a:t> (k=30)</a:t>
            </a:r>
          </a:p>
          <a:p>
            <a:pPr algn="l" latinLnBrk="1">
              <a:lnSpc>
                <a:spcPct val="150000"/>
              </a:lnSpc>
              <a:buNone/>
            </a:pPr>
            <a:r>
              <a:rPr lang="en-US" b="0" dirty="0">
                <a:effectLst/>
                <a:cs typeface="Times New Roman" panose="02020603050405020304" pitchFamily="18" charset="0"/>
              </a:rPr>
              <a:t>• </a:t>
            </a:r>
            <a:r>
              <a:rPr lang="en-US" b="0" dirty="0" err="1">
                <a:effectLst/>
                <a:cs typeface="Times New Roman" panose="02020603050405020304" pitchFamily="18" charset="0"/>
              </a:rPr>
              <a:t>Balansowanie</a:t>
            </a:r>
            <a:r>
              <a:rPr lang="en-US" b="0" dirty="0">
                <a:effectLst/>
                <a:cs typeface="Times New Roman" panose="02020603050405020304" pitchFamily="18" charset="0"/>
              </a:rPr>
              <a:t> </a:t>
            </a:r>
            <a:r>
              <a:rPr lang="en-US" b="0" dirty="0" err="1">
                <a:effectLst/>
                <a:cs typeface="Times New Roman" panose="02020603050405020304" pitchFamily="18" charset="0"/>
              </a:rPr>
              <a:t>klas</a:t>
            </a:r>
            <a:r>
              <a:rPr lang="en-US" b="0" dirty="0">
                <a:effectLst/>
                <a:cs typeface="Times New Roman" panose="02020603050405020304" pitchFamily="18" charset="0"/>
              </a:rPr>
              <a:t>:</a:t>
            </a:r>
            <a:r>
              <a:rPr lang="ru-RU" b="0" dirty="0">
                <a:effectLst/>
                <a:cs typeface="Times New Roman" panose="02020603050405020304" pitchFamily="18" charset="0"/>
              </a:rPr>
              <a:t> </a:t>
            </a:r>
            <a:r>
              <a:rPr lang="pl-PL" b="0" dirty="0">
                <a:effectLst/>
                <a:cs typeface="Times New Roman" panose="02020603050405020304" pitchFamily="18" charset="0"/>
              </a:rPr>
              <a:t>auto_class_weights</a:t>
            </a:r>
            <a:endParaRPr lang="en-US" b="0" dirty="0">
              <a:effectLst/>
              <a:cs typeface="Times New Roman" panose="02020603050405020304" pitchFamily="18" charset="0"/>
            </a:endParaRPr>
          </a:p>
          <a:p>
            <a:pPr algn="l" latinLnBrk="1">
              <a:lnSpc>
                <a:spcPct val="150000"/>
              </a:lnSpc>
              <a:buNone/>
            </a:pPr>
            <a:r>
              <a:rPr lang="en-US" b="0" dirty="0">
                <a:effectLst/>
                <a:cs typeface="Times New Roman" panose="02020603050405020304" pitchFamily="18" charset="0"/>
              </a:rPr>
              <a:t>• </a:t>
            </a:r>
            <a:r>
              <a:rPr lang="en-US" b="0" dirty="0" err="1">
                <a:effectLst/>
                <a:cs typeface="Times New Roman" panose="02020603050405020304" pitchFamily="18" charset="0"/>
              </a:rPr>
              <a:t>Podział</a:t>
            </a:r>
            <a:r>
              <a:rPr lang="en-US" b="0" dirty="0">
                <a:effectLst/>
                <a:cs typeface="Times New Roman" panose="02020603050405020304" pitchFamily="18" charset="0"/>
              </a:rPr>
              <a:t> </a:t>
            </a:r>
            <a:r>
              <a:rPr lang="en-US" b="0" dirty="0" err="1">
                <a:effectLst/>
                <a:cs typeface="Times New Roman" panose="02020603050405020304" pitchFamily="18" charset="0"/>
              </a:rPr>
              <a:t>temporalny</a:t>
            </a:r>
            <a:r>
              <a:rPr lang="en-US" b="0" dirty="0">
                <a:effectLst/>
                <a:cs typeface="Times New Roman" panose="02020603050405020304" pitchFamily="18" charset="0"/>
              </a:rPr>
              <a:t>: 80/20</a:t>
            </a:r>
          </a:p>
          <a:p>
            <a:pPr algn="l" latinLnBrk="1">
              <a:lnSpc>
                <a:spcPct val="150000"/>
              </a:lnSpc>
              <a:buNone/>
            </a:pPr>
            <a:r>
              <a:rPr lang="en-US" b="0" dirty="0">
                <a:effectLst/>
                <a:cs typeface="Times New Roman" panose="02020603050405020304" pitchFamily="18" charset="0"/>
              </a:rPr>
              <a:t>• </a:t>
            </a:r>
            <a:r>
              <a:rPr lang="en-US" b="0" dirty="0" err="1">
                <a:effectLst/>
                <a:cs typeface="Times New Roman" panose="02020603050405020304" pitchFamily="18" charset="0"/>
              </a:rPr>
              <a:t>Cechy</a:t>
            </a:r>
            <a:r>
              <a:rPr lang="en-US" b="0" dirty="0">
                <a:effectLst/>
                <a:cs typeface="Times New Roman" panose="02020603050405020304" pitchFamily="18" charset="0"/>
              </a:rPr>
              <a:t> </a:t>
            </a:r>
            <a:r>
              <a:rPr lang="en-US" b="0" dirty="0" err="1">
                <a:effectLst/>
                <a:cs typeface="Times New Roman" panose="02020603050405020304" pitchFamily="18" charset="0"/>
              </a:rPr>
              <a:t>kategoryczne</a:t>
            </a:r>
            <a:r>
              <a:rPr lang="en-US" b="0" dirty="0">
                <a:effectLst/>
                <a:cs typeface="Times New Roman" panose="02020603050405020304" pitchFamily="18" charset="0"/>
              </a:rPr>
              <a:t>: </a:t>
            </a:r>
            <a:r>
              <a:rPr lang="en-US" b="0" dirty="0" err="1">
                <a:effectLst/>
                <a:cs typeface="Times New Roman" panose="02020603050405020304" pitchFamily="18" charset="0"/>
              </a:rPr>
              <a:t>godzina</a:t>
            </a:r>
            <a:r>
              <a:rPr lang="en-US" b="0" dirty="0">
                <a:effectLst/>
                <a:cs typeface="Times New Roman" panose="02020603050405020304" pitchFamily="18" charset="0"/>
              </a:rPr>
              <a:t>, </a:t>
            </a:r>
            <a:r>
              <a:rPr lang="en-US" b="0" dirty="0" err="1">
                <a:effectLst/>
                <a:cs typeface="Times New Roman" panose="02020603050405020304" pitchFamily="18" charset="0"/>
              </a:rPr>
              <a:t>dzień</a:t>
            </a:r>
            <a:r>
              <a:rPr lang="en-US" b="0" dirty="0">
                <a:effectLst/>
                <a:cs typeface="Times New Roman" panose="02020603050405020304" pitchFamily="18" charset="0"/>
              </a:rPr>
              <a:t> </a:t>
            </a:r>
            <a:r>
              <a:rPr lang="en-US" b="0" dirty="0" err="1">
                <a:effectLst/>
                <a:cs typeface="Times New Roman" panose="02020603050405020304" pitchFamily="18" charset="0"/>
              </a:rPr>
              <a:t>tygodnia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0541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086CF-6748-F2E9-BBCB-F89197F45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4">
            <a:extLst>
              <a:ext uri="{FF2B5EF4-FFF2-40B4-BE49-F238E27FC236}">
                <a16:creationId xmlns:a16="http://schemas.microsoft.com/office/drawing/2014/main" id="{EAE7B67C-4DDB-E8D2-1049-051E53F50EC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pl-PL" dirty="0">
                <a:latin typeface="+mn-lt"/>
                <a:cs typeface="Calibri"/>
              </a:rPr>
              <a:t>Wyniki i ocena modelu</a:t>
            </a:r>
            <a:endParaRPr lang="pl-PL" dirty="0">
              <a:latin typeface="+mn-lt"/>
            </a:endParaRPr>
          </a:p>
        </p:txBody>
      </p: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BDF32285-BCED-8509-3F11-1FC0AF97E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183422"/>
            <a:ext cx="3012123" cy="3363838"/>
          </a:xfrm>
          <a:prstGeom prst="rect">
            <a:avLst/>
          </a:prstGeom>
        </p:spPr>
      </p:pic>
      <p:pic>
        <p:nvPicPr>
          <p:cNvPr id="10" name="Picture 9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386EC73-CDBE-9CFC-4A2A-8E1C5548E3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7665"/>
            <a:ext cx="2520280" cy="3449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922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46EBD-CA7C-39BC-2A93-4A438DDAD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4">
            <a:extLst>
              <a:ext uri="{FF2B5EF4-FFF2-40B4-BE49-F238E27FC236}">
                <a16:creationId xmlns:a16="http://schemas.microsoft.com/office/drawing/2014/main" id="{CE9A9A47-9D1A-0823-4834-17DF7B1C9F7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pl-PL" dirty="0">
                <a:latin typeface="+mn-lt"/>
                <a:cs typeface="Calibri"/>
              </a:rPr>
              <a:t>Interfejs użytkownika</a:t>
            </a:r>
            <a:endParaRPr lang="pl-PL" dirty="0">
              <a:latin typeface="+mn-lt"/>
            </a:endParaRPr>
          </a:p>
        </p:txBody>
      </p:sp>
      <p:pic>
        <p:nvPicPr>
          <p:cNvPr id="4" name="Picture 3" descr="A graph on a white background&#10;&#10;AI-generated content may be incorrect.">
            <a:extLst>
              <a:ext uri="{FF2B5EF4-FFF2-40B4-BE49-F238E27FC236}">
                <a16:creationId xmlns:a16="http://schemas.microsoft.com/office/drawing/2014/main" id="{ABC43E8B-2DF9-E290-4C67-12585A89A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275606"/>
            <a:ext cx="4483134" cy="2016224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83EE938-54AD-DE14-5DAD-22F59DA4F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9912" y="2528638"/>
            <a:ext cx="4379829" cy="2059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451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B31F2-35B8-C6F9-3FD6-A8DE75BE0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4">
            <a:extLst>
              <a:ext uri="{FF2B5EF4-FFF2-40B4-BE49-F238E27FC236}">
                <a16:creationId xmlns:a16="http://schemas.microsoft.com/office/drawing/2014/main" id="{4AF1CBFE-AA43-F18E-3333-499E6B9EC55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pl-PL" dirty="0">
                <a:latin typeface="+mn-lt"/>
                <a:cs typeface="Calibri"/>
              </a:rPr>
              <a:t>Podsumowanie i wnioski</a:t>
            </a:r>
            <a:endParaRPr lang="pl-PL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0CBC80-9AC2-6193-341A-9C59FC334FB3}"/>
              </a:ext>
            </a:extLst>
          </p:cNvPr>
          <p:cNvSpPr txBox="1"/>
          <p:nvPr/>
        </p:nvSpPr>
        <p:spPr>
          <a:xfrm>
            <a:off x="1115616" y="1113588"/>
            <a:ext cx="4572000" cy="3083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latinLnBrk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l-PL" sz="2000" b="0" dirty="0">
                <a:effectLst/>
                <a:cs typeface="Times New Roman" panose="02020603050405020304" pitchFamily="18" charset="0"/>
              </a:rPr>
              <a:t>Kompletna platforma end-to-end</a:t>
            </a:r>
          </a:p>
          <a:p>
            <a:pPr marL="285750" indent="-285750" algn="l" latinLnBrk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l-PL" sz="2000" b="0" dirty="0">
                <a:effectLst/>
                <a:cs typeface="Times New Roman" panose="02020603050405020304" pitchFamily="18" charset="0"/>
              </a:rPr>
              <a:t> Model z 63% dokładnością</a:t>
            </a:r>
          </a:p>
          <a:p>
            <a:pPr marL="285750" indent="-285750" algn="l" latinLnBrk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l-PL" sz="2000" b="0" dirty="0">
                <a:effectLst/>
                <a:cs typeface="Times New Roman" panose="02020603050405020304" pitchFamily="18" charset="0"/>
              </a:rPr>
              <a:t> Modularna, skalowalna architektura</a:t>
            </a:r>
          </a:p>
          <a:p>
            <a:pPr marL="285750" indent="-285750" algn="l" latinLnBrk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l-PL" sz="2000" b="0" dirty="0">
                <a:effectLst/>
                <a:cs typeface="Times New Roman" panose="02020603050405020304" pitchFamily="18" charset="0"/>
              </a:rPr>
              <a:t> Interaktywny dashboard</a:t>
            </a:r>
            <a:endParaRPr lang="pl-PL" sz="2000" dirty="0">
              <a:cs typeface="Times New Roman" panose="02020603050405020304" pitchFamily="18" charset="0"/>
            </a:endParaRPr>
          </a:p>
          <a:p>
            <a:pPr marL="285750" indent="-285750" algn="l" latinLnBrk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l-PL" sz="2000" b="0" dirty="0">
                <a:effectLst/>
                <a:cs typeface="Times New Roman" panose="02020603050405020304" pitchFamily="18" charset="0"/>
              </a:rPr>
              <a:t>Wszystkie założenia spełnion</a:t>
            </a:r>
            <a:r>
              <a:rPr lang="pl-PL" sz="2000" dirty="0">
                <a:cs typeface="Times New Roman" panose="02020603050405020304" pitchFamily="18" charset="0"/>
              </a:rPr>
              <a:t>e</a:t>
            </a:r>
            <a:endParaRPr lang="pl-PL" sz="2000" b="0" dirty="0">
              <a:effectLst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5650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1439A-4EF2-8961-772F-16377F863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9472C30-679F-CDFE-DD7E-C0BD9EA73F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536" y="2427734"/>
            <a:ext cx="8208912" cy="1045939"/>
          </a:xfrm>
        </p:spPr>
        <p:txBody>
          <a:bodyPr>
            <a:normAutofit/>
          </a:bodyPr>
          <a:lstStyle/>
          <a:p>
            <a:r>
              <a:rPr lang="pl-PL" sz="2400" b="0" dirty="0"/>
              <a:t>Platforma predykcji i monitorowania danych</a:t>
            </a:r>
            <a:br>
              <a:rPr lang="pl-PL" sz="2400" b="0" dirty="0"/>
            </a:br>
            <a:r>
              <a:rPr lang="pl-PL" sz="2400" b="0" dirty="0"/>
              <a:t>zmiennych w czasie z użyciem metod uczenia maszynowego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F6F5CB7F-69C5-F650-9E49-D1375747FA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016" y="3433415"/>
            <a:ext cx="3632448" cy="1314450"/>
          </a:xfrm>
        </p:spPr>
        <p:txBody>
          <a:bodyPr>
            <a:normAutofit/>
          </a:bodyPr>
          <a:lstStyle/>
          <a:p>
            <a:r>
              <a:rPr lang="en-US" sz="1400" dirty="0"/>
              <a:t>Promotor:</a:t>
            </a:r>
          </a:p>
          <a:p>
            <a:r>
              <a:rPr lang="en-US" sz="1400" b="1" dirty="0"/>
              <a:t>Dr. </a:t>
            </a:r>
            <a:r>
              <a:rPr lang="en-US" sz="1400" b="1" dirty="0" err="1"/>
              <a:t>Pawe</a:t>
            </a:r>
            <a:r>
              <a:rPr lang="pl-PL" sz="1400" b="1" dirty="0"/>
              <a:t>ł Powroźnik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FF39B1-ECDA-1CF3-DB30-F4DB1AFFA224}"/>
              </a:ext>
            </a:extLst>
          </p:cNvPr>
          <p:cNvSpPr txBox="1"/>
          <p:nvPr/>
        </p:nvSpPr>
        <p:spPr>
          <a:xfrm>
            <a:off x="4296461" y="3433415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l-PL" sz="1400" dirty="0">
                <a:solidFill>
                  <a:srgbClr val="000000"/>
                </a:solidFill>
                <a:latin typeface="Times New Roman"/>
                <a:cs typeface="Times New Roman"/>
              </a:rPr>
              <a:t>Dyplomant:</a:t>
            </a:r>
            <a:endParaRPr lang="pl-PL" sz="1400" dirty="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400" dirty="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l-PL" sz="1400" b="1" dirty="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Lutsyk Mykola</a:t>
            </a: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l-PL" sz="1400" dirty="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Nr Albumu: 99799</a:t>
            </a:r>
          </a:p>
        </p:txBody>
      </p:sp>
      <p:sp>
        <p:nvSpPr>
          <p:cNvPr id="4" name="Tytuł 1">
            <a:extLst>
              <a:ext uri="{FF2B5EF4-FFF2-40B4-BE49-F238E27FC236}">
                <a16:creationId xmlns:a16="http://schemas.microsoft.com/office/drawing/2014/main" id="{53FFDF2F-A65F-F212-26E9-5FC80F1FCFED}"/>
              </a:ext>
            </a:extLst>
          </p:cNvPr>
          <p:cNvSpPr txBox="1">
            <a:spLocks/>
          </p:cNvSpPr>
          <p:nvPr/>
        </p:nvSpPr>
        <p:spPr>
          <a:xfrm>
            <a:off x="467544" y="1557561"/>
            <a:ext cx="8208912" cy="10459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2400" dirty="0"/>
              <a:t>Dziękuję za uwagę </a:t>
            </a:r>
          </a:p>
        </p:txBody>
      </p:sp>
    </p:spTree>
    <p:extLst>
      <p:ext uri="{BB962C8B-B14F-4D97-AF65-F5344CB8AC3E}">
        <p14:creationId xmlns:p14="http://schemas.microsoft.com/office/powerpoint/2010/main" val="770143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5141</TotalTime>
  <Words>315</Words>
  <Application>Microsoft Office PowerPoint</Application>
  <PresentationFormat>Pokaz na ekranie (16:9)</PresentationFormat>
  <Paragraphs>65</Paragraphs>
  <Slides>10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Motyw pakietu Office</vt:lpstr>
      <vt:lpstr>Platforma predykcji i monitorowania danych zmiennych w czasie z użyciem metod uczenia maszynowego</vt:lpstr>
      <vt:lpstr>Cel i zakres pracy</vt:lpstr>
      <vt:lpstr>Zastosowane technologie</vt:lpstr>
      <vt:lpstr>Architektura systemu</vt:lpstr>
      <vt:lpstr>Inżynieria cech</vt:lpstr>
      <vt:lpstr>Model uczenia maszynowego</vt:lpstr>
      <vt:lpstr>Wyniki i ocena modelu</vt:lpstr>
      <vt:lpstr>Interfejs użytkownika</vt:lpstr>
      <vt:lpstr>Podsumowanie i wnioski</vt:lpstr>
      <vt:lpstr>Platforma predykcji i monitorowania danych zmiennych w czasie z użyciem metod uczenia maszynowego</vt:lpstr>
    </vt:vector>
  </TitlesOfParts>
  <Company>Politechnika Lubelska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student</dc:creator>
  <cp:lastModifiedBy>Микола Луцик</cp:lastModifiedBy>
  <cp:revision>14</cp:revision>
  <dcterms:created xsi:type="dcterms:W3CDTF">2014-04-16T09:47:06Z</dcterms:created>
  <dcterms:modified xsi:type="dcterms:W3CDTF">2026-01-16T16:27:38Z</dcterms:modified>
</cp:coreProperties>
</file>